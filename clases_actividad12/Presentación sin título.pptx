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1f7b4c42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c1f7b4c42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1f7b4c42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1f7b4c42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1f7b4c4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1f7b4c4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1f7b4c42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1f7b4c42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1f7b4c42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1f7b4c42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1f7b4c42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1f7b4c42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c3926b87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c3926b87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c3959bc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c3959bc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3926b876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c3926b876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3926b876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3926b876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3959bc1f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c3959bc1f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3959bc1f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3959bc1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3959bc1f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c3959bc1f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3926b876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3926b87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3959bc1f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c3959bc1f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3959bc1f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3959bc1f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3a6c45e3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c3a6c45e3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c3a6c45e3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c3a6c45e3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3a6c45e3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3a6c45e3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c3a6c45e3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c3a6c45e3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c3a6c45e3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c3a6c45e3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3a6c45e3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c3a6c45e3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c3a6c45e3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c3a6c45e3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776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Limpieza de Datos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475" y="2912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1 - Data Cleaning</a:t>
            </a:r>
            <a:endParaRPr/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2358225" y="2797075"/>
            <a:ext cx="44271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75" y="240494"/>
            <a:ext cx="1140975" cy="12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6928100" y="3806538"/>
            <a:ext cx="23058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0">
                <a:solidFill>
                  <a:srgbClr val="595959"/>
                </a:solidFill>
              </a:rPr>
              <a:t>@TuTechGuy</a:t>
            </a:r>
            <a:endParaRPr sz="1490">
              <a:solidFill>
                <a:srgbClr val="595959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5025" y="4217225"/>
            <a:ext cx="715950" cy="7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Pasos en Data Cleaning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447950" y="1372350"/>
            <a:ext cx="5441700" cy="27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Eliminación</a:t>
            </a:r>
            <a:r>
              <a:rPr lang="es"/>
              <a:t> de columnas con poco varianza.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Tratamiento de valores nulos (Missing Values).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Tratamiento de valores atípicos (Outliers).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Eliminación de duplicados.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Corrección de tipo de dato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s"/>
              <a:t>etc</a:t>
            </a:r>
            <a:endParaRPr/>
          </a:p>
        </p:txBody>
      </p:sp>
      <p:cxnSp>
        <p:nvCxnSpPr>
          <p:cNvPr id="66" name="Google Shape;66;p14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00" y="1590800"/>
            <a:ext cx="3269700" cy="1791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UnderFitting vs OverFitting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808200" y="1152475"/>
            <a:ext cx="426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Underfit</a:t>
            </a:r>
            <a:r>
              <a:rPr lang="es">
                <a:solidFill>
                  <a:schemeClr val="accent1"/>
                </a:solidFill>
              </a:rPr>
              <a:t>:</a:t>
            </a:r>
            <a:r>
              <a:rPr lang="es"/>
              <a:t> El modelo es </a:t>
            </a:r>
            <a:r>
              <a:rPr lang="es">
                <a:solidFill>
                  <a:schemeClr val="accent1"/>
                </a:solidFill>
              </a:rPr>
              <a:t>demasiado</a:t>
            </a:r>
            <a:r>
              <a:rPr lang="es"/>
              <a:t> </a:t>
            </a:r>
            <a:r>
              <a:rPr lang="es">
                <a:solidFill>
                  <a:schemeClr val="accent1"/>
                </a:solidFill>
              </a:rPr>
              <a:t>simple</a:t>
            </a:r>
            <a:r>
              <a:rPr lang="es"/>
              <a:t> y no captura la relación en los datos. </a:t>
            </a:r>
            <a:r>
              <a:rPr lang="es">
                <a:solidFill>
                  <a:schemeClr val="accent1"/>
                </a:solidFill>
              </a:rPr>
              <a:t>Mucho BIAS.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●"/>
            </a:pPr>
            <a:r>
              <a:rPr b="1" lang="es"/>
              <a:t>Overfit</a:t>
            </a:r>
            <a:r>
              <a:rPr lang="es">
                <a:solidFill>
                  <a:schemeClr val="accent1"/>
                </a:solidFill>
              </a:rPr>
              <a:t>:</a:t>
            </a:r>
            <a:r>
              <a:rPr lang="es"/>
              <a:t> El modelo se </a:t>
            </a:r>
            <a:r>
              <a:rPr lang="es">
                <a:solidFill>
                  <a:schemeClr val="accent1"/>
                </a:solidFill>
              </a:rPr>
              <a:t>ajusta</a:t>
            </a:r>
            <a:r>
              <a:rPr lang="es"/>
              <a:t> </a:t>
            </a:r>
            <a:r>
              <a:rPr lang="es">
                <a:solidFill>
                  <a:schemeClr val="accent1"/>
                </a:solidFill>
              </a:rPr>
              <a:t>en</a:t>
            </a:r>
            <a:r>
              <a:rPr lang="es"/>
              <a:t> </a:t>
            </a:r>
            <a:r>
              <a:rPr lang="es">
                <a:solidFill>
                  <a:schemeClr val="accent1"/>
                </a:solidFill>
              </a:rPr>
              <a:t>exceso</a:t>
            </a:r>
            <a:r>
              <a:rPr lang="es"/>
              <a:t> a los datos de entrenamiento y por lo tanto, </a:t>
            </a:r>
            <a:r>
              <a:rPr lang="es">
                <a:solidFill>
                  <a:schemeClr val="accent1"/>
                </a:solidFill>
              </a:rPr>
              <a:t>no</a:t>
            </a:r>
            <a:r>
              <a:rPr lang="es"/>
              <a:t> </a:t>
            </a:r>
            <a:r>
              <a:rPr lang="es">
                <a:solidFill>
                  <a:schemeClr val="accent1"/>
                </a:solidFill>
              </a:rPr>
              <a:t>generaliza</a:t>
            </a:r>
            <a:r>
              <a:rPr lang="es"/>
              <a:t> bien sobre nuevos datos. </a:t>
            </a:r>
            <a:r>
              <a:rPr lang="es">
                <a:solidFill>
                  <a:schemeClr val="accent1"/>
                </a:solidFill>
              </a:rPr>
              <a:t>Mucha Variance.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74" name="Google Shape;74;p15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0100"/>
            <a:ext cx="4808199" cy="19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Bias vs Variance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146025" y="1152475"/>
            <a:ext cx="478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Bias (Sesgo) :</a:t>
            </a:r>
            <a:r>
              <a:rPr lang="es"/>
              <a:t> Es el </a:t>
            </a:r>
            <a:r>
              <a:rPr lang="es">
                <a:solidFill>
                  <a:schemeClr val="accent1"/>
                </a:solidFill>
              </a:rPr>
              <a:t>Error sistemático</a:t>
            </a:r>
            <a:r>
              <a:rPr lang="es"/>
              <a:t> en las </a:t>
            </a:r>
            <a:r>
              <a:rPr lang="es">
                <a:solidFill>
                  <a:schemeClr val="accent1"/>
                </a:solidFill>
              </a:rPr>
              <a:t>predicciones</a:t>
            </a:r>
            <a:r>
              <a:rPr lang="es"/>
              <a:t> del modelo.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●"/>
            </a:pPr>
            <a:r>
              <a:rPr b="1" lang="es"/>
              <a:t>Variance (Varianza) :</a:t>
            </a:r>
            <a:r>
              <a:rPr lang="es"/>
              <a:t> Es la </a:t>
            </a:r>
            <a:r>
              <a:rPr lang="es">
                <a:solidFill>
                  <a:schemeClr val="accent1"/>
                </a:solidFill>
              </a:rPr>
              <a:t>sensibilidad</a:t>
            </a:r>
            <a:r>
              <a:rPr lang="es"/>
              <a:t> del modelo a pequeñas fluctuaciones en la </a:t>
            </a:r>
            <a:r>
              <a:rPr lang="es">
                <a:solidFill>
                  <a:schemeClr val="accent1"/>
                </a:solidFill>
              </a:rPr>
              <a:t>data de entrenamiento</a:t>
            </a:r>
            <a:r>
              <a:rPr lang="es"/>
              <a:t>. Si es muy elevada el modelo sobreajusta. </a:t>
            </a:r>
            <a:endParaRPr/>
          </a:p>
        </p:txBody>
      </p:sp>
      <p:cxnSp>
        <p:nvCxnSpPr>
          <p:cNvPr id="82" name="Google Shape;82;p16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54438"/>
            <a:ext cx="3841225" cy="241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643175" y="1220550"/>
            <a:ext cx="443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/>
              <a:t>Variance: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Añadir </a:t>
            </a:r>
            <a:r>
              <a:rPr lang="es"/>
              <a:t>más</a:t>
            </a:r>
            <a:r>
              <a:rPr lang="es"/>
              <a:t> datos de entrenamiento (Si se puede).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Simplificar el modelo.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Utilizar un método de </a:t>
            </a:r>
            <a:r>
              <a:rPr lang="es"/>
              <a:t>reducción</a:t>
            </a:r>
            <a:r>
              <a:rPr lang="es"/>
              <a:t> de características (PCA).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¿Como las corregimos?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90" name="Google Shape;90;p17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7"/>
          <p:cNvSpPr txBox="1"/>
          <p:nvPr/>
        </p:nvSpPr>
        <p:spPr>
          <a:xfrm>
            <a:off x="331425" y="1220550"/>
            <a:ext cx="3805200" cy="2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Bias: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Aumentando la complejidad del modelo.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Añadiendo nuevas características.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Outliers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188000" y="1181163"/>
            <a:ext cx="48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Son observaciones </a:t>
            </a:r>
            <a:r>
              <a:rPr lang="es">
                <a:solidFill>
                  <a:schemeClr val="accent1"/>
                </a:solidFill>
              </a:rPr>
              <a:t>distantes del resto</a:t>
            </a:r>
            <a:r>
              <a:rPr lang="es"/>
              <a:t>.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Puede deberse a </a:t>
            </a:r>
            <a:r>
              <a:rPr lang="es">
                <a:solidFill>
                  <a:schemeClr val="accent1"/>
                </a:solidFill>
              </a:rPr>
              <a:t>variabilidad propia</a:t>
            </a:r>
            <a:r>
              <a:rPr lang="es"/>
              <a:t> de los datos o a </a:t>
            </a:r>
            <a:r>
              <a:rPr lang="es">
                <a:solidFill>
                  <a:schemeClr val="accent1"/>
                </a:solidFill>
              </a:rPr>
              <a:t>errores de medida</a:t>
            </a:r>
            <a:r>
              <a:rPr lang="es"/>
              <a:t>.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 hay una definición matemática de que es un outlier pero hay 2 métodos para identificarlos:</a:t>
            </a:r>
            <a:endParaRPr/>
          </a:p>
          <a:p>
            <a:pPr indent="-32893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es" sz="1708">
                <a:solidFill>
                  <a:schemeClr val="accent1"/>
                </a:solidFill>
              </a:rPr>
              <a:t>3* STD</a:t>
            </a:r>
            <a:endParaRPr sz="1708">
              <a:solidFill>
                <a:schemeClr val="accent1"/>
              </a:solidFill>
            </a:endParaRPr>
          </a:p>
          <a:p>
            <a:pPr indent="-328453" lvl="1" marL="9144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accent1"/>
              </a:buClr>
              <a:buSzPct val="100000"/>
              <a:buChar char="○"/>
            </a:pPr>
            <a:r>
              <a:rPr lang="es" sz="1700">
                <a:solidFill>
                  <a:schemeClr val="accent1"/>
                </a:solidFill>
              </a:rPr>
              <a:t>+ 1.5 IQR</a:t>
            </a:r>
            <a:endParaRPr sz="1700">
              <a:solidFill>
                <a:schemeClr val="accent1"/>
              </a:solidFill>
            </a:endParaRPr>
          </a:p>
        </p:txBody>
      </p:sp>
      <p:cxnSp>
        <p:nvCxnSpPr>
          <p:cNvPr id="98" name="Google Shape;98;p18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350" y="816975"/>
            <a:ext cx="2716925" cy="22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300" y="3195500"/>
            <a:ext cx="4041000" cy="1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Missing Values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212950" y="1152475"/>
            <a:ext cx="4619400" cy="3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Son atributos para los cuales </a:t>
            </a:r>
            <a:r>
              <a:rPr lang="es">
                <a:solidFill>
                  <a:schemeClr val="accent1"/>
                </a:solidFill>
              </a:rPr>
              <a:t>no hay información</a:t>
            </a:r>
            <a:r>
              <a:rPr lang="es"/>
              <a:t> en una observación.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Cómo</a:t>
            </a:r>
            <a:r>
              <a:rPr lang="es"/>
              <a:t> tratarlos?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Eliminarlos (Sencillo pero perdemos info)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Sustituir por valor estadístico (Media, mediana..)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SzPts val="1400"/>
              <a:buChar char="○"/>
            </a:pPr>
            <a:r>
              <a:rPr lang="es"/>
              <a:t>Emplear un modelo para rellenar esos valores.</a:t>
            </a:r>
            <a:endParaRPr/>
          </a:p>
        </p:txBody>
      </p:sp>
      <p:cxnSp>
        <p:nvCxnSpPr>
          <p:cNvPr id="107" name="Google Shape;107;p19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75" y="1581200"/>
            <a:ext cx="3908152" cy="219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Varianza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Correlación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dtransform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Tratamiento de categoricos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Normalizacion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ctrTitle"/>
          </p:nvPr>
        </p:nvSpPr>
        <p:spPr>
          <a:xfrm>
            <a:off x="311708" y="6776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Limpieza de Datos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(PARTE 2)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311475" y="2912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1 - Data Cleaning II</a:t>
            </a:r>
            <a:endParaRPr/>
          </a:p>
        </p:txBody>
      </p:sp>
      <p:cxnSp>
        <p:nvCxnSpPr>
          <p:cNvPr id="121" name="Google Shape;121;p21"/>
          <p:cNvCxnSpPr/>
          <p:nvPr/>
        </p:nvCxnSpPr>
        <p:spPr>
          <a:xfrm flipH="1" rot="10800000">
            <a:off x="2358225" y="2797075"/>
            <a:ext cx="44271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75" y="240494"/>
            <a:ext cx="1140975" cy="12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6928100" y="3806538"/>
            <a:ext cx="23058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0">
                <a:solidFill>
                  <a:srgbClr val="595959"/>
                </a:solidFill>
              </a:rPr>
              <a:t>@TuTechGuy</a:t>
            </a:r>
            <a:endParaRPr sz="1490">
              <a:solidFill>
                <a:srgbClr val="595959"/>
              </a:solidFill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5025" y="4217225"/>
            <a:ext cx="715950" cy="7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Varianza en la data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4010375" y="1219100"/>
            <a:ext cx="505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mayor varianza </a:t>
            </a:r>
            <a:r>
              <a:rPr lang="es"/>
              <a:t>más</a:t>
            </a:r>
            <a:r>
              <a:rPr lang="es"/>
              <a:t> info se aporta a los modelos.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ayuda a encontrar patrones en los datos.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 lo general, las columnas con poca varianza pueden eliminarse ya que no aportan casi info.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SzPts val="1800"/>
              <a:buChar char="●"/>
            </a:pPr>
            <a:r>
              <a:rPr lang="es"/>
              <a:t>P.ej Columnas </a:t>
            </a:r>
            <a:r>
              <a:rPr lang="es"/>
              <a:t>categóricas</a:t>
            </a:r>
            <a:r>
              <a:rPr lang="es"/>
              <a:t> con 1 categoría</a:t>
            </a:r>
            <a:endParaRPr/>
          </a:p>
        </p:txBody>
      </p:sp>
      <p:cxnSp>
        <p:nvCxnSpPr>
          <p:cNvPr id="131" name="Google Shape;131;p22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63" y="2193925"/>
            <a:ext cx="37052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Correlación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5154600" y="1330225"/>
            <a:ext cx="367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2 variables tienen alta </a:t>
            </a:r>
            <a:r>
              <a:rPr lang="es"/>
              <a:t>correlación</a:t>
            </a:r>
            <a:r>
              <a:rPr lang="es"/>
              <a:t>, quiere decir que nos aportan casi la misma información.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</a:t>
            </a:r>
            <a:r>
              <a:rPr lang="es"/>
              <a:t>correlación</a:t>
            </a:r>
            <a:r>
              <a:rPr lang="es"/>
              <a:t> </a:t>
            </a:r>
            <a:r>
              <a:rPr lang="es">
                <a:solidFill>
                  <a:schemeClr val="accent1"/>
                </a:solidFill>
              </a:rPr>
              <a:t>no implica causalidad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Correlación </a:t>
            </a:r>
            <a:r>
              <a:rPr lang="es">
                <a:solidFill>
                  <a:schemeClr val="accent1"/>
                </a:solidFill>
              </a:rPr>
              <a:t>Positiva</a:t>
            </a:r>
            <a:r>
              <a:rPr lang="es"/>
              <a:t> - </a:t>
            </a:r>
            <a:r>
              <a:rPr b="1" lang="es">
                <a:solidFill>
                  <a:schemeClr val="accent1"/>
                </a:solidFill>
              </a:rPr>
              <a:t>1</a:t>
            </a:r>
            <a:endParaRPr b="1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Correlación</a:t>
            </a:r>
            <a:r>
              <a:rPr lang="es"/>
              <a:t> </a:t>
            </a:r>
            <a:r>
              <a:rPr lang="es">
                <a:solidFill>
                  <a:schemeClr val="accent1"/>
                </a:solidFill>
              </a:rPr>
              <a:t>Negativa</a:t>
            </a:r>
            <a:r>
              <a:rPr lang="es"/>
              <a:t> - </a:t>
            </a:r>
            <a:r>
              <a:rPr b="1" lang="es">
                <a:solidFill>
                  <a:schemeClr val="accent1"/>
                </a:solidFill>
              </a:rPr>
              <a:t>-1</a:t>
            </a:r>
            <a:endParaRPr b="1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s"/>
              <a:t>Correlación </a:t>
            </a:r>
            <a:r>
              <a:rPr lang="es">
                <a:solidFill>
                  <a:schemeClr val="accent1"/>
                </a:solidFill>
              </a:rPr>
              <a:t>Nula</a:t>
            </a:r>
            <a:r>
              <a:rPr lang="es"/>
              <a:t> - </a:t>
            </a:r>
            <a:r>
              <a:rPr lang="es">
                <a:solidFill>
                  <a:schemeClr val="accent1"/>
                </a:solidFill>
              </a:rPr>
              <a:t>0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39" name="Google Shape;139;p23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2000625"/>
            <a:ext cx="4837276" cy="17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Correlación no implica causalidad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775" y="1203450"/>
            <a:ext cx="4210050" cy="361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4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Matriz de correlación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232550" y="1152475"/>
            <a:ext cx="459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Coeficiente de Pearson 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Correlación entre todas las variables numéricas.</a:t>
            </a:r>
            <a:endParaRPr/>
          </a:p>
        </p:txBody>
      </p:sp>
      <p:cxnSp>
        <p:nvCxnSpPr>
          <p:cNvPr id="154" name="Google Shape;154;p25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27750" cy="3025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575" y="1866900"/>
            <a:ext cx="32575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Distribución normal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521300" y="1526100"/>
            <a:ext cx="4311000" cy="20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Hay modelos que asumen que los datos siguen esta distribución.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Dist de probabilidad simétrica en forma de campana.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s"/>
              <a:t>Ayuda a identificar Outliers.</a:t>
            </a:r>
            <a:endParaRPr/>
          </a:p>
        </p:txBody>
      </p:sp>
      <p:cxnSp>
        <p:nvCxnSpPr>
          <p:cNvPr id="163" name="Google Shape;163;p26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13" y="1092375"/>
            <a:ext cx="355267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EDA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70" name="Google Shape;170;p27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1" name="Google Shape;171;p27"/>
          <p:cNvGrpSpPr/>
          <p:nvPr/>
        </p:nvGrpSpPr>
        <p:grpSpPr>
          <a:xfrm>
            <a:off x="2067761" y="2462309"/>
            <a:ext cx="2397964" cy="2338821"/>
            <a:chOff x="4303290" y="2158374"/>
            <a:chExt cx="1854000" cy="1854000"/>
          </a:xfrm>
        </p:grpSpPr>
        <p:sp>
          <p:nvSpPr>
            <p:cNvPr id="172" name="Google Shape;172;p27"/>
            <p:cNvSpPr/>
            <p:nvPr/>
          </p:nvSpPr>
          <p:spPr>
            <a:xfrm>
              <a:off x="4303290" y="2158374"/>
              <a:ext cx="1854000" cy="1854000"/>
            </a:xfrm>
            <a:prstGeom prst="ellipse">
              <a:avLst/>
            </a:prstGeom>
            <a:solidFill>
              <a:srgbClr val="0D5CDF"/>
            </a:solidFill>
            <a:ln cap="flat" cmpd="sng" w="28575">
              <a:solidFill>
                <a:srgbClr val="A1C2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5010351" y="2937027"/>
              <a:ext cx="10752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Limpiar los datos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" name="Google Shape;174;p27"/>
          <p:cNvGrpSpPr/>
          <p:nvPr/>
        </p:nvGrpSpPr>
        <p:grpSpPr>
          <a:xfrm>
            <a:off x="364899" y="2462309"/>
            <a:ext cx="2397964" cy="2338821"/>
            <a:chOff x="2986712" y="2158374"/>
            <a:chExt cx="1854000" cy="1854000"/>
          </a:xfrm>
        </p:grpSpPr>
        <p:sp>
          <p:nvSpPr>
            <p:cNvPr id="175" name="Google Shape;175;p27"/>
            <p:cNvSpPr/>
            <p:nvPr/>
          </p:nvSpPr>
          <p:spPr>
            <a:xfrm>
              <a:off x="2986712" y="2158374"/>
              <a:ext cx="1854000" cy="1854000"/>
            </a:xfrm>
            <a:prstGeom prst="ellipse">
              <a:avLst/>
            </a:prstGeom>
            <a:solidFill>
              <a:srgbClr val="307AF3"/>
            </a:solidFill>
            <a:ln cap="flat" cmpd="sng" w="28575">
              <a:solidFill>
                <a:srgbClr val="A1C2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7"/>
            <p:cNvSpPr txBox="1"/>
            <p:nvPr/>
          </p:nvSpPr>
          <p:spPr>
            <a:xfrm>
              <a:off x="3015360" y="3042457"/>
              <a:ext cx="17967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Visualizar los datos</a:t>
              </a:r>
              <a:r>
                <a:rPr lang="e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(</a:t>
              </a:r>
              <a:r>
                <a:rPr lang="es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Distribuciones,diag. de cajas…</a:t>
              </a:r>
              <a:r>
                <a:rPr lang="e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)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27"/>
          <p:cNvGrpSpPr/>
          <p:nvPr/>
        </p:nvGrpSpPr>
        <p:grpSpPr>
          <a:xfrm>
            <a:off x="1231648" y="1166452"/>
            <a:ext cx="2397964" cy="2338821"/>
            <a:chOff x="3656844" y="1131139"/>
            <a:chExt cx="1854000" cy="1854000"/>
          </a:xfrm>
        </p:grpSpPr>
        <p:sp>
          <p:nvSpPr>
            <p:cNvPr id="178" name="Google Shape;178;p27"/>
            <p:cNvSpPr/>
            <p:nvPr/>
          </p:nvSpPr>
          <p:spPr>
            <a:xfrm>
              <a:off x="3656844" y="1131139"/>
              <a:ext cx="1854000" cy="1854000"/>
            </a:xfrm>
            <a:prstGeom prst="ellipse">
              <a:avLst/>
            </a:prstGeom>
            <a:solidFill>
              <a:srgbClr val="0942A1"/>
            </a:solidFill>
            <a:ln cap="flat" cmpd="sng" w="28575">
              <a:solidFill>
                <a:srgbClr val="A1C2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7"/>
            <p:cNvSpPr txBox="1"/>
            <p:nvPr/>
          </p:nvSpPr>
          <p:spPr>
            <a:xfrm>
              <a:off x="3938562" y="1707834"/>
              <a:ext cx="1290600" cy="5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Entender los datos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Qué</a:t>
              </a:r>
              <a:r>
                <a:rPr lang="e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significa cada variables,de </a:t>
              </a:r>
              <a:r>
                <a:rPr lang="e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qué</a:t>
              </a:r>
              <a:r>
                <a:rPr lang="e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tipo es..)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628" y="292750"/>
            <a:ext cx="2764975" cy="27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5615" y="3221225"/>
            <a:ext cx="2529364" cy="17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Desbalanceo de clases (</a:t>
            </a:r>
            <a:r>
              <a:rPr lang="es">
                <a:solidFill>
                  <a:schemeClr val="accent1"/>
                </a:solidFill>
              </a:rPr>
              <a:t>Clasificación</a:t>
            </a:r>
            <a:r>
              <a:rPr lang="es">
                <a:solidFill>
                  <a:schemeClr val="accent1"/>
                </a:solidFill>
              </a:rPr>
              <a:t>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4677000" y="1612900"/>
            <a:ext cx="4155300" cy="23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generaliza bien la clase minoritaria.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métricas de evaluación son engañosas.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s"/>
              <a:t>Overfitting en la clase mayoritaria.</a:t>
            </a:r>
            <a:endParaRPr/>
          </a:p>
        </p:txBody>
      </p:sp>
      <p:cxnSp>
        <p:nvCxnSpPr>
          <p:cNvPr id="188" name="Google Shape;188;p28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2900"/>
            <a:ext cx="401002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Corregir el desbalanceo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95" name="Google Shape;195;p29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150" y="1577500"/>
            <a:ext cx="7687925" cy="22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ctrTitle"/>
          </p:nvPr>
        </p:nvSpPr>
        <p:spPr>
          <a:xfrm>
            <a:off x="311708" y="6776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Data Transform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311475" y="2912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 2 - Data Transform</a:t>
            </a:r>
            <a:endParaRPr/>
          </a:p>
        </p:txBody>
      </p:sp>
      <p:cxnSp>
        <p:nvCxnSpPr>
          <p:cNvPr id="203" name="Google Shape;203;p30"/>
          <p:cNvCxnSpPr/>
          <p:nvPr/>
        </p:nvCxnSpPr>
        <p:spPr>
          <a:xfrm flipH="1" rot="10800000">
            <a:off x="2358225" y="2797075"/>
            <a:ext cx="44271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75" y="240494"/>
            <a:ext cx="1140975" cy="12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6928100" y="3806538"/>
            <a:ext cx="23058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0">
                <a:solidFill>
                  <a:srgbClr val="595959"/>
                </a:solidFill>
              </a:rPr>
              <a:t>@TuTechGuy</a:t>
            </a:r>
            <a:endParaRPr sz="1490">
              <a:solidFill>
                <a:srgbClr val="595959"/>
              </a:solidFill>
            </a:endParaRPr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5025" y="4217225"/>
            <a:ext cx="715950" cy="7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Split de los datos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938" y="1236775"/>
            <a:ext cx="6555334" cy="368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31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Cross - validation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5221200" y="1765338"/>
            <a:ext cx="3611100" cy="2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K-Fold Cross-validation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Obtenemos una métrica mas realista.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s"/>
              <a:t>Es buena práctica barajar los datos antes.</a:t>
            </a:r>
            <a:endParaRPr/>
          </a:p>
        </p:txBody>
      </p:sp>
      <p:cxnSp>
        <p:nvCxnSpPr>
          <p:cNvPr id="220" name="Google Shape;220;p32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00" y="1681125"/>
            <a:ext cx="4916475" cy="2204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Normalización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4799125" y="1825950"/>
            <a:ext cx="4344900" cy="14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Escala cada variable entre 0-1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MinMaxScaler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entrena sobre el train y se transforma sobre el train y el test.</a:t>
            </a:r>
            <a:endParaRPr/>
          </a:p>
        </p:txBody>
      </p:sp>
      <p:cxnSp>
        <p:nvCxnSpPr>
          <p:cNvPr id="228" name="Google Shape;228;p33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525" y="3925175"/>
            <a:ext cx="22669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 rotWithShape="1">
          <a:blip r:embed="rId4">
            <a:alphaModFix/>
          </a:blip>
          <a:srcRect b="0" l="0" r="32958" t="0"/>
          <a:stretch/>
        </p:blipFill>
        <p:spPr>
          <a:xfrm>
            <a:off x="311700" y="1462250"/>
            <a:ext cx="4431927" cy="217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Estandarización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4572000" y="1931550"/>
            <a:ext cx="4260300" cy="12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Asume una distribucion gaussiana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s"/>
              <a:t>Escala los datos para tener una distribución de media 0 y desv. 1.</a:t>
            </a:r>
            <a:endParaRPr/>
          </a:p>
        </p:txBody>
      </p:sp>
      <p:cxnSp>
        <p:nvCxnSpPr>
          <p:cNvPr id="237" name="Google Shape;237;p34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8" name="Google Shape;2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9150"/>
            <a:ext cx="4191250" cy="35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Transformación logarítmica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312300" y="3704300"/>
            <a:ext cx="4260300" cy="13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Ayuda a mitigar la asimetría.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s"/>
              <a:t>Puede invertirse usando exponenciación.</a:t>
            </a:r>
            <a:endParaRPr/>
          </a:p>
        </p:txBody>
      </p:sp>
      <p:cxnSp>
        <p:nvCxnSpPr>
          <p:cNvPr id="245" name="Google Shape;245;p35"/>
          <p:cNvCxnSpPr/>
          <p:nvPr/>
        </p:nvCxnSpPr>
        <p:spPr>
          <a:xfrm flipH="1" rot="10800000">
            <a:off x="312300" y="962375"/>
            <a:ext cx="32697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250" y="1190712"/>
            <a:ext cx="5507680" cy="229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